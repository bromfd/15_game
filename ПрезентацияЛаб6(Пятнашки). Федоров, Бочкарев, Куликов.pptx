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5" r:id="rId8"/>
    <p:sldId id="262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E9CB58D-A6D3-4C8C-9B97-8DBBCCC67576}" type="datetimeFigureOut">
              <a:rPr lang="ru-RU" smtClean="0"/>
              <a:t>12.11.2025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DFCFD0C-0F21-4681-9C9C-43858BE75B5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188640"/>
            <a:ext cx="8136904" cy="4104456"/>
          </a:xfrm>
        </p:spPr>
        <p:txBody>
          <a:bodyPr>
            <a:noAutofit/>
          </a:bodyPr>
          <a:lstStyle/>
          <a:p>
            <a:pPr algn="ctr"/>
            <a:r>
              <a:rPr lang="ru-RU" sz="8800" dirty="0" smtClean="0"/>
              <a:t>«Пятнашки»</a:t>
            </a:r>
            <a:br>
              <a:rPr lang="ru-RU" sz="8800" dirty="0" smtClean="0"/>
            </a:br>
            <a:r>
              <a:rPr lang="ru-RU" sz="8800" dirty="0" smtClean="0"/>
              <a:t>Лабораторная работа №6</a:t>
            </a:r>
            <a:endParaRPr lang="ru-RU" sz="8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733256"/>
            <a:ext cx="9144000" cy="1199704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chemeClr val="tx1"/>
                </a:solidFill>
              </a:rPr>
              <a:t>Работу выполнили (Являются разработчиками): </a:t>
            </a:r>
          </a:p>
          <a:p>
            <a:r>
              <a:rPr lang="ru-RU" sz="2400" dirty="0" smtClean="0">
                <a:solidFill>
                  <a:schemeClr val="tx1"/>
                </a:solidFill>
              </a:rPr>
              <a:t>Бочкарев Виталий, Федоров Дмитрий, Куликов Артем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80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accent2"/>
                </a:solidFill>
              </a:rPr>
              <a:t>Правила и суть игры «Пятнашки»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4416" y="1556792"/>
            <a:ext cx="82340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  <a:r>
              <a:rPr lang="ru-RU" sz="2400" dirty="0"/>
              <a:t>Головоломка представляет собой набор из 15 одинаковых </a:t>
            </a:r>
            <a:r>
              <a:rPr lang="ru-RU" sz="2400" dirty="0" smtClean="0"/>
              <a:t>квадратных</a:t>
            </a:r>
            <a:r>
              <a:rPr lang="ru-RU" sz="2400" dirty="0"/>
              <a:t> костяшек с нанесёнными на них числами, лежащих в квадратной коробке. Длина стороны коробки в четыре раза больше длины стороны костяшки, поэтому в коробке остаётся незаполненным одно квадратное поле. Цель игры — упорядочить костяшки по возрастанию номеров, перемещая их внутри коробки, желательно сделав как можно меньше перемещений.</a:t>
            </a:r>
          </a:p>
        </p:txBody>
      </p:sp>
      <p:pic>
        <p:nvPicPr>
          <p:cNvPr id="1026" name="Picture 2" descr="https://upload.wikimedia.org/wikipedia/commons/thumb/2/22/%D0%9F%D1%8F%D1%82%D0%BD%D0%B0%D1%88%D0%BA%D0%B8.jpg/250px-%D0%9F%D1%8F%D1%82%D0%BD%D0%B0%D1%88%D0%BA%D0%B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4867275"/>
            <a:ext cx="23812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5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792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 smtClean="0"/>
              <a:t>План создания игры «Пятнашки»</a:t>
            </a:r>
            <a:endParaRPr lang="ru-RU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1700808"/>
            <a:ext cx="85689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3"/>
                </a:solidFill>
              </a:rPr>
              <a:t>Выбрать язык программирования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rgbClr val="7030A0"/>
                </a:solidFill>
              </a:rPr>
              <a:t>Создать интерфейс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accent3"/>
                </a:solidFill>
              </a:rPr>
              <a:t>Придумать алгоритм работы Пятнашек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3200" dirty="0" smtClean="0">
                <a:solidFill>
                  <a:srgbClr val="7030A0"/>
                </a:solidFill>
              </a:rPr>
              <a:t>Протестировать игру на наличие багов, недоработок</a:t>
            </a:r>
            <a:endParaRPr lang="ru-RU" sz="3200" dirty="0">
              <a:solidFill>
                <a:srgbClr val="7030A0"/>
              </a:solidFill>
            </a:endParaRPr>
          </a:p>
        </p:txBody>
      </p:sp>
      <p:pic>
        <p:nvPicPr>
          <p:cNvPr id="2050" name="Picture 2" descr="https://avatars.mds.yandex.net/i?id=d0874ef66a251e99303a8c21ecb68997a08d9f70-4561933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3809999"/>
            <a:ext cx="40767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8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686800" cy="1440160"/>
          </a:xfrm>
        </p:spPr>
        <p:txBody>
          <a:bodyPr>
            <a:noAutofit/>
          </a:bodyPr>
          <a:lstStyle/>
          <a:p>
            <a:pPr algn="ctr"/>
            <a:r>
              <a:rPr lang="ru-RU" sz="5400" dirty="0" smtClean="0">
                <a:solidFill>
                  <a:srgbClr val="FFC000"/>
                </a:solidFill>
                <a:latin typeface="Artifakt Element Black" pitchFamily="34" charset="-52"/>
                <a:ea typeface="Artifakt Element Black" pitchFamily="34" charset="-52"/>
              </a:rPr>
              <a:t>Выбор языка программирования</a:t>
            </a:r>
            <a:endParaRPr lang="ru-RU" sz="5400" dirty="0">
              <a:solidFill>
                <a:srgbClr val="FFC000"/>
              </a:solidFill>
              <a:latin typeface="Artifakt Element Black" pitchFamily="34" charset="-52"/>
              <a:ea typeface="Artifakt Element Black" pitchFamily="34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2060848"/>
            <a:ext cx="83529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FFFF99"/>
                </a:solidFill>
              </a:rPr>
              <a:t>Для создания игры был выбран язык программирования</a:t>
            </a:r>
            <a:r>
              <a:rPr lang="en-US" sz="2000" dirty="0" smtClean="0">
                <a:solidFill>
                  <a:srgbClr val="FFFF99"/>
                </a:solidFill>
              </a:rPr>
              <a:t> Dart</a:t>
            </a:r>
            <a:r>
              <a:rPr lang="ru-RU" sz="2000" dirty="0" smtClean="0">
                <a:solidFill>
                  <a:srgbClr val="FFFF99"/>
                </a:solidFill>
              </a:rPr>
              <a:t>,а также специально разработанный для него </a:t>
            </a:r>
            <a:r>
              <a:rPr lang="ru-RU" sz="2000" dirty="0" err="1" smtClean="0">
                <a:solidFill>
                  <a:srgbClr val="FFFF99"/>
                </a:solidFill>
              </a:rPr>
              <a:t>фреймворк</a:t>
            </a:r>
            <a:r>
              <a:rPr lang="ru-RU" sz="2000" dirty="0" smtClean="0">
                <a:solidFill>
                  <a:srgbClr val="FFFF99"/>
                </a:solidFill>
              </a:rPr>
              <a:t> </a:t>
            </a:r>
            <a:r>
              <a:rPr lang="ru-RU" sz="2000" dirty="0" err="1" smtClean="0">
                <a:solidFill>
                  <a:srgbClr val="FFFF99"/>
                </a:solidFill>
              </a:rPr>
              <a:t>flutter</a:t>
            </a:r>
            <a:r>
              <a:rPr lang="ru-RU" sz="2000" dirty="0" smtClean="0">
                <a:solidFill>
                  <a:srgbClr val="FFFF99"/>
                </a:solidFill>
              </a:rPr>
              <a:t>, они буквально созданы друг для друга и неразделимы. На самом языке </a:t>
            </a:r>
            <a:r>
              <a:rPr lang="ru-RU" sz="2000" dirty="0" err="1" smtClean="0">
                <a:solidFill>
                  <a:srgbClr val="FFFF99"/>
                </a:solidFill>
              </a:rPr>
              <a:t>dart</a:t>
            </a:r>
            <a:r>
              <a:rPr lang="ru-RU" sz="2000" dirty="0" smtClean="0">
                <a:solidFill>
                  <a:srgbClr val="FFFF99"/>
                </a:solidFill>
              </a:rPr>
              <a:t> пишется логика работы кода (</a:t>
            </a:r>
            <a:r>
              <a:rPr lang="ru-RU" sz="2000" dirty="0" err="1" smtClean="0">
                <a:solidFill>
                  <a:srgbClr val="FFFF99"/>
                </a:solidFill>
              </a:rPr>
              <a:t>бекэнд</a:t>
            </a:r>
            <a:r>
              <a:rPr lang="ru-RU" sz="2000" dirty="0" smtClean="0">
                <a:solidFill>
                  <a:srgbClr val="FFFF99"/>
                </a:solidFill>
              </a:rPr>
              <a:t>), а </a:t>
            </a:r>
            <a:r>
              <a:rPr lang="ru-RU" sz="2000" dirty="0" err="1" smtClean="0">
                <a:solidFill>
                  <a:srgbClr val="FFFF99"/>
                </a:solidFill>
              </a:rPr>
              <a:t>фреймворк</a:t>
            </a:r>
            <a:r>
              <a:rPr lang="ru-RU" sz="2000" dirty="0" smtClean="0">
                <a:solidFill>
                  <a:srgbClr val="FFFF99"/>
                </a:solidFill>
              </a:rPr>
              <a:t> </a:t>
            </a:r>
            <a:r>
              <a:rPr lang="ru-RU" sz="2000" dirty="0" err="1" smtClean="0">
                <a:solidFill>
                  <a:srgbClr val="FFFF99"/>
                </a:solidFill>
              </a:rPr>
              <a:t>flutter</a:t>
            </a:r>
            <a:r>
              <a:rPr lang="ru-RU" sz="2000" dirty="0" smtClean="0">
                <a:solidFill>
                  <a:srgbClr val="FFFF99"/>
                </a:solidFill>
              </a:rPr>
              <a:t> дополняет этот язык таким образом, что на нём можно писать ещё и UX дизайн (</a:t>
            </a:r>
            <a:r>
              <a:rPr lang="ru-RU" sz="2000" dirty="0" err="1" smtClean="0">
                <a:solidFill>
                  <a:srgbClr val="FFFF99"/>
                </a:solidFill>
              </a:rPr>
              <a:t>фронтенд</a:t>
            </a:r>
            <a:r>
              <a:rPr lang="ru-RU" sz="2000" dirty="0" smtClean="0">
                <a:solidFill>
                  <a:srgbClr val="FFFF99"/>
                </a:solidFill>
              </a:rPr>
              <a:t>). По факту это уникальная </a:t>
            </a:r>
            <a:r>
              <a:rPr lang="ru-RU" sz="2000" dirty="0" err="1" smtClean="0">
                <a:solidFill>
                  <a:srgbClr val="FFFF99"/>
                </a:solidFill>
              </a:rPr>
              <a:t>свзяка</a:t>
            </a:r>
            <a:r>
              <a:rPr lang="ru-RU" sz="2000" dirty="0" smtClean="0">
                <a:solidFill>
                  <a:srgbClr val="FFFF99"/>
                </a:solidFill>
              </a:rPr>
              <a:t> позволяющая писать и </a:t>
            </a:r>
            <a:r>
              <a:rPr lang="ru-RU" sz="2000" dirty="0" err="1" smtClean="0">
                <a:solidFill>
                  <a:srgbClr val="FFFF99"/>
                </a:solidFill>
              </a:rPr>
              <a:t>фронтенд</a:t>
            </a:r>
            <a:r>
              <a:rPr lang="ru-RU" sz="2000" dirty="0" smtClean="0">
                <a:solidFill>
                  <a:srgbClr val="FFFF99"/>
                </a:solidFill>
              </a:rPr>
              <a:t>, и </a:t>
            </a:r>
            <a:r>
              <a:rPr lang="ru-RU" sz="2000" dirty="0" err="1" smtClean="0">
                <a:solidFill>
                  <a:srgbClr val="FFFF99"/>
                </a:solidFill>
              </a:rPr>
              <a:t>бекенд</a:t>
            </a:r>
            <a:r>
              <a:rPr lang="ru-RU" sz="2000" dirty="0" smtClean="0">
                <a:solidFill>
                  <a:srgbClr val="FFFF99"/>
                </a:solidFill>
              </a:rPr>
              <a:t> полностью на одном языке программирования. Также, приложение созданное на </a:t>
            </a:r>
            <a:r>
              <a:rPr lang="en-US" sz="2000" dirty="0" smtClean="0">
                <a:solidFill>
                  <a:srgbClr val="FFFF99"/>
                </a:solidFill>
              </a:rPr>
              <a:t>dart </a:t>
            </a:r>
            <a:r>
              <a:rPr lang="ru-RU" sz="2000" dirty="0" smtClean="0">
                <a:solidFill>
                  <a:srgbClr val="FFFF99"/>
                </a:solidFill>
              </a:rPr>
              <a:t>и </a:t>
            </a:r>
            <a:r>
              <a:rPr lang="en-US" sz="2000" dirty="0" smtClean="0">
                <a:solidFill>
                  <a:srgbClr val="FFFF99"/>
                </a:solidFill>
              </a:rPr>
              <a:t>flutter, </a:t>
            </a:r>
            <a:r>
              <a:rPr lang="ru-RU" sz="2000" dirty="0" smtClean="0">
                <a:solidFill>
                  <a:srgbClr val="FFFF99"/>
                </a:solidFill>
              </a:rPr>
              <a:t>можно собрать под любую платформу.</a:t>
            </a:r>
            <a:endParaRPr lang="ru-RU" sz="2000" dirty="0">
              <a:solidFill>
                <a:srgbClr val="FFFF99"/>
              </a:solidFill>
            </a:endParaRPr>
          </a:p>
        </p:txBody>
      </p:sp>
      <p:pic>
        <p:nvPicPr>
          <p:cNvPr id="3082" name="Picture 10" descr="https://avatars.mds.yandex.net/i?id=f2f4bc41d6cade9e6af05ef5ae83dd75de84fc6f-15406132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824027"/>
            <a:ext cx="4067944" cy="203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26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Интерфейс игры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8482078" cy="4009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504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60648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 smtClean="0">
                <a:latin typeface="Bahnschrift SemiBold Condensed" pitchFamily="34" charset="0"/>
              </a:rPr>
              <a:t>Алгоритм работы «Пятнашек»</a:t>
            </a:r>
            <a:endParaRPr lang="ru-RU" sz="5400" dirty="0">
              <a:latin typeface="Bahnschrift SemiBold Condense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268760"/>
            <a:ext cx="864096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Генерируется одномерный массив элементов (числа от 1 до 15, пустая клетка)</a:t>
            </a:r>
          </a:p>
          <a:p>
            <a:pPr marL="342900" indent="-342900">
              <a:buAutoNum type="arabicPeriod"/>
            </a:pPr>
            <a:r>
              <a:rPr lang="ru-RU" dirty="0" smtClean="0"/>
              <a:t>Элементы списка </a:t>
            </a:r>
            <a:r>
              <a:rPr lang="ru-RU" dirty="0" err="1" smtClean="0"/>
              <a:t>рандомно</a:t>
            </a:r>
            <a:r>
              <a:rPr lang="ru-RU" dirty="0" smtClean="0"/>
              <a:t> перемешиваются, пока набор элементов не станет возможным для решения.</a:t>
            </a:r>
          </a:p>
          <a:p>
            <a:pPr marL="342900" indent="-342900">
              <a:buAutoNum type="arabicPeriod"/>
            </a:pPr>
            <a:r>
              <a:rPr lang="ru-RU" dirty="0" smtClean="0"/>
              <a:t>Перемешанный список делится на списки, кол-во которых равно кол-ву заданных рядов, а кол-во элементов в эти списках равно кол-ву столбцов, далее эти списки составляют двумерный массив.</a:t>
            </a:r>
          </a:p>
          <a:p>
            <a:pPr marL="342900" indent="-342900">
              <a:buAutoNum type="arabicPeriod"/>
            </a:pPr>
            <a:r>
              <a:rPr lang="ru-RU" dirty="0" smtClean="0"/>
              <a:t>Строится сетка, кол-во элементов в которой рассчитывается как длина двумерного массива * длину его нулевого элемента.</a:t>
            </a:r>
          </a:p>
          <a:p>
            <a:pPr marL="342900" indent="-342900">
              <a:buAutoNum type="arabicPeriod"/>
            </a:pPr>
            <a:r>
              <a:rPr lang="ru-RU" dirty="0" smtClean="0"/>
              <a:t>Каждому элементу сетки присваиваются индексы от 0 до кол-ва элементов сетки. По этим индексам высчитывается положение по рядам и столбцам.</a:t>
            </a:r>
          </a:p>
          <a:p>
            <a:pPr marL="342900" indent="-342900">
              <a:buAutoNum type="arabicPeriod"/>
            </a:pPr>
            <a:r>
              <a:rPr lang="ru-RU" dirty="0" smtClean="0"/>
              <a:t>После нажатия кнопки </a:t>
            </a:r>
            <a:r>
              <a:rPr lang="ru-RU" dirty="0" smtClean="0">
                <a:solidFill>
                  <a:srgbClr val="00B050"/>
                </a:solidFill>
              </a:rPr>
              <a:t>«Начать игру»</a:t>
            </a:r>
            <a:r>
              <a:rPr lang="ru-RU" dirty="0" smtClean="0"/>
              <a:t> по умолчанию выбирается первый элемент сетки, сама же сетка переходит в режим клавиатурных нажатий (выбранный элемент – в зеленой рамке). Кнопка </a:t>
            </a:r>
            <a:r>
              <a:rPr lang="ru-RU" dirty="0" smtClean="0">
                <a:solidFill>
                  <a:srgbClr val="FF0000"/>
                </a:solidFill>
              </a:rPr>
              <a:t>«Завершить игру» </a:t>
            </a:r>
            <a:r>
              <a:rPr lang="ru-RU" dirty="0" smtClean="0"/>
              <a:t>позволяет выйти из данного режима.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46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260648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>
                <a:latin typeface="Bahnschrift SemiBold Condensed" pitchFamily="34" charset="0"/>
              </a:rPr>
              <a:t>Продолжение алгоритма</a:t>
            </a:r>
            <a:endParaRPr lang="ru-RU" sz="3600" dirty="0">
              <a:latin typeface="Bahnschrift SemiBold Condense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196752"/>
            <a:ext cx="8352928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7. Выбранный элемент можно перемещать с помощью клавиш </a:t>
            </a:r>
            <a:r>
              <a:rPr lang="en-US" dirty="0" smtClean="0"/>
              <a:t>WASD</a:t>
            </a:r>
            <a:r>
              <a:rPr lang="ru-RU" dirty="0" smtClean="0"/>
              <a:t> внутри функции, обрабатывающей нажатия.</a:t>
            </a:r>
          </a:p>
          <a:p>
            <a:r>
              <a:rPr lang="ru-RU" dirty="0" smtClean="0"/>
              <a:t>8. Если выбранный элемент стоит рядом с пустой клеткой, то мы можем поменять эти клетки местами, поменяв их значения внутри двумерного массива на клавишу </a:t>
            </a:r>
            <a:r>
              <a:rPr lang="en-US" dirty="0" smtClean="0"/>
              <a:t>Enter</a:t>
            </a:r>
            <a:r>
              <a:rPr lang="ru-RU" dirty="0" smtClean="0"/>
              <a:t>, внутри функции, обрабатывающей нажатия.</a:t>
            </a:r>
            <a:br>
              <a:rPr lang="ru-RU" dirty="0" smtClean="0"/>
            </a:br>
            <a:r>
              <a:rPr lang="ru-RU" dirty="0" smtClean="0"/>
              <a:t>9. Каждую перестановку элементов, игра проверяет соблюдены ли условия для выигрыша (собранный список должен быть равен изначальному, </a:t>
            </a:r>
            <a:r>
              <a:rPr lang="ru-RU" dirty="0" err="1" smtClean="0"/>
              <a:t>неперемешанному</a:t>
            </a:r>
            <a:r>
              <a:rPr lang="ru-RU" dirty="0" smtClean="0"/>
              <a:t>), если они соблюдены игра объявляет о победе и предлагает сыграть снова.</a:t>
            </a:r>
          </a:p>
          <a:p>
            <a:r>
              <a:rPr lang="ru-RU" dirty="0" smtClean="0"/>
              <a:t>10. В игре присутствует кнопка перемешивания, она запускает ту же функцию, что перемешивает элементы в начале, а также сбрасывает позицию выбранного элемента.</a:t>
            </a:r>
            <a:br>
              <a:rPr lang="ru-RU" dirty="0" smtClean="0"/>
            </a:br>
            <a:r>
              <a:rPr lang="ru-RU" dirty="0" smtClean="0"/>
              <a:t>11. Также присутствует кнопка информации, которая знакомит игрока с управлением и разработчиками.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54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8612" y="-13672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00B0F0"/>
                </a:solidFill>
                <a:latin typeface="Artifakt Element Black" pitchFamily="34" charset="-52"/>
                <a:ea typeface="Artifakt Element Black" pitchFamily="34" charset="-52"/>
              </a:rPr>
              <a:t>Тестирование игры, поиск и исправление багов</a:t>
            </a:r>
            <a:endParaRPr lang="ru-RU" dirty="0">
              <a:solidFill>
                <a:srgbClr val="00B0F0"/>
              </a:solidFill>
              <a:latin typeface="Artifakt Element Black" pitchFamily="34" charset="-52"/>
              <a:ea typeface="Artifakt Element Black" pitchFamily="34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8936" y="1268760"/>
            <a:ext cx="85689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Баг 1. </a:t>
            </a:r>
            <a:r>
              <a:rPr lang="ru-RU" dirty="0" smtClean="0"/>
              <a:t>Изначально при разработке игры использовался одномерный массив. Была сломана логика перемещения клеток: чтобы сменить ряд - прибавлялось/вычиталось кол-во колонок, а чтобы сменить колонку -  прибавлялась и вычиталась 1. </a:t>
            </a:r>
            <a:r>
              <a:rPr lang="ru-RU" dirty="0" smtClean="0">
                <a:solidFill>
                  <a:srgbClr val="FFFF00"/>
                </a:solidFill>
              </a:rPr>
              <a:t>(При такой логике функцией перемещения элемента из 1 колонки в соседнюю можно было переместить элемент 1 ряда 4 столбца во 2 ряд 1 столбца)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Решение: переход на двумерный массив</a:t>
            </a:r>
          </a:p>
          <a:p>
            <a:endParaRPr lang="ru-RU" dirty="0" smtClean="0">
              <a:solidFill>
                <a:srgbClr val="FF0000"/>
              </a:solidFill>
            </a:endParaRPr>
          </a:p>
          <a:p>
            <a:r>
              <a:rPr lang="ru-RU" dirty="0" smtClean="0">
                <a:solidFill>
                  <a:srgbClr val="00B050"/>
                </a:solidFill>
              </a:rPr>
              <a:t>Баг 2. </a:t>
            </a:r>
            <a:r>
              <a:rPr lang="ru-RU" dirty="0" smtClean="0"/>
              <a:t>Генерировалась невозможная для решения последовательность чисел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Решение: Добавление проверки, и теперь когда генерируется невозможная последовательность то массив перемешивается снова и так пока не сгенерируется возможная</a:t>
            </a:r>
          </a:p>
          <a:p>
            <a:endParaRPr lang="ru-RU" dirty="0"/>
          </a:p>
          <a:p>
            <a:r>
              <a:rPr lang="ru-RU" dirty="0" smtClean="0">
                <a:solidFill>
                  <a:srgbClr val="00B050"/>
                </a:solidFill>
              </a:rPr>
              <a:t>Баг 3. </a:t>
            </a:r>
            <a:r>
              <a:rPr lang="ru-RU" dirty="0"/>
              <a:t>Н</a:t>
            </a:r>
            <a:r>
              <a:rPr lang="ru-RU" dirty="0" smtClean="0"/>
              <a:t>еправильно задача ограничения для индекса и он по началу улетал за пределы списка и выдавал ошибку, а потом ограничения заработали, но если пустая клетка каким либо образом оказывалась в углу, то её было уже оттуда не вытащить.</a:t>
            </a:r>
            <a:br>
              <a:rPr lang="ru-RU" dirty="0" smtClean="0"/>
            </a:br>
            <a:r>
              <a:rPr lang="ru-RU" dirty="0" smtClean="0">
                <a:solidFill>
                  <a:srgbClr val="FF0000"/>
                </a:solidFill>
              </a:rPr>
              <a:t>Решение: изменение ограничения для индекса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74837" y="0"/>
            <a:ext cx="8229600" cy="1143000"/>
          </a:xfrm>
        </p:spPr>
        <p:txBody>
          <a:bodyPr/>
          <a:lstStyle/>
          <a:p>
            <a:pPr algn="ctr"/>
            <a:r>
              <a:rPr lang="ru-RU" i="1" dirty="0" smtClean="0">
                <a:latin typeface="Artifakt Element Black" pitchFamily="34" charset="-52"/>
                <a:ea typeface="Artifakt Element Black" pitchFamily="34" charset="-52"/>
              </a:rPr>
              <a:t>Итоговая версия игры</a:t>
            </a:r>
            <a:endParaRPr lang="ru-RU" i="1" dirty="0">
              <a:latin typeface="Artifakt Element Black" pitchFamily="34" charset="-52"/>
              <a:ea typeface="Artifakt Element Black" pitchFamily="34" charset="-52"/>
            </a:endParaRPr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980728"/>
            <a:ext cx="5435874" cy="264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26488"/>
            <a:ext cx="5435874" cy="319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45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189</TotalTime>
  <Words>410</Words>
  <Application>Microsoft Office PowerPoint</Application>
  <PresentationFormat>Экран (4:3)</PresentationFormat>
  <Paragraphs>31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Открытая</vt:lpstr>
      <vt:lpstr>«Пятнашки» Лабораторная работа №6</vt:lpstr>
      <vt:lpstr>Правила и суть игры «Пятнашки»</vt:lpstr>
      <vt:lpstr>Презентация PowerPoint</vt:lpstr>
      <vt:lpstr>Выбор языка программирования</vt:lpstr>
      <vt:lpstr>Интерфейс игры</vt:lpstr>
      <vt:lpstr>Презентация PowerPoint</vt:lpstr>
      <vt:lpstr>Презентация PowerPoint</vt:lpstr>
      <vt:lpstr>Тестирование игры, поиск и исправление багов</vt:lpstr>
      <vt:lpstr>Итоговая версия игры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Пятнашки Лабораторная работа №6</dc:title>
  <dc:creator>Админ</dc:creator>
  <cp:lastModifiedBy>Админ</cp:lastModifiedBy>
  <cp:revision>12</cp:revision>
  <dcterms:created xsi:type="dcterms:W3CDTF">2025-11-12T11:59:24Z</dcterms:created>
  <dcterms:modified xsi:type="dcterms:W3CDTF">2025-11-12T15:08:50Z</dcterms:modified>
</cp:coreProperties>
</file>